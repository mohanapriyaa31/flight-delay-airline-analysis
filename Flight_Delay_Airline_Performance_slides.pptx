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98" d="100"/>
          <a:sy n="98" d="100"/>
        </p:scale>
        <p:origin x="58" y="-13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3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503920" y="640080"/>
            <a:ext cx="1828800" cy="1828800"/>
          </a:xfrm>
          <a:prstGeom prst="ellipse">
            <a:avLst/>
          </a:prstGeom>
          <a:solidFill>
            <a:srgbClr val="2B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784080" y="2011680"/>
            <a:ext cx="1234440" cy="1234440"/>
          </a:xfrm>
          <a:prstGeom prst="ellipse">
            <a:avLst/>
          </a:prstGeom>
          <a:solidFill>
            <a:srgbClr val="27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955279" y="3017520"/>
            <a:ext cx="731520" cy="731520"/>
          </a:xfrm>
          <a:prstGeom prst="ellipse">
            <a:avLst/>
          </a:prstGeom>
          <a:solidFill>
            <a:srgbClr val="EB9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332720" y="3931920"/>
            <a:ext cx="1554480" cy="1554480"/>
          </a:xfrm>
          <a:prstGeom prst="ellipse">
            <a:avLst/>
          </a:prstGeom>
          <a:solidFill>
            <a:srgbClr val="2B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005840"/>
            <a:ext cx="694944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27A6A0"/>
                </a:solidFill>
                <a:latin typeface="Aptos"/>
              </a:defRPr>
            </a:pPr>
            <a:r>
              <a:t>DATA ANALYTICS • MINI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45920"/>
            <a:ext cx="7223760" cy="1554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700"/>
              </a:spcAft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t>Flight Delay &amp;</a:t>
            </a:r>
          </a:p>
          <a:p>
            <a:pPr>
              <a:spcAft>
                <a:spcPts val="700"/>
              </a:spcAft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t>Airline Performance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94760"/>
            <a:ext cx="6583680" cy="8229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DCE6F1"/>
                </a:solidFill>
                <a:latin typeface="Aptos"/>
              </a:defRPr>
            </a:pPr>
            <a:r>
              <a:t>Exploring delays, cancellations, and airline performance using Python EDA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897880"/>
            <a:ext cx="640080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FFFFFF"/>
                </a:solidFill>
                <a:latin typeface="Aptos"/>
              </a:defRPr>
            </a:pPr>
            <a:r>
              <a:t>Tools: Python • Pandas • Matplotlib • Seaborn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35640" y="6400800"/>
            <a:ext cx="640080" cy="1828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BECDDC"/>
                </a:solidFill>
                <a:latin typeface="Aptos"/>
              </a:defRPr>
            </a:pPr>
            <a: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7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33E"/>
                </a:solidFill>
                <a:latin typeface="Aptos Display"/>
              </a:defRPr>
            </a:pPr>
            <a:r>
              <a:t>01  |  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7382"/>
                </a:solidFill>
                <a:latin typeface="Aptos"/>
              </a:defRPr>
            </a:pPr>
            <a:r>
              <a:t>What we want to learn from flight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382"/>
                </a:solidFill>
              </a:defRPr>
            </a:pPr>
            <a:r>
              <a:t>02 / 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3474720" cy="1508760"/>
          </a:xfrm>
          <a:prstGeom prst="roundRect">
            <a:avLst/>
          </a:prstGeom>
          <a:solidFill>
            <a:srgbClr val="F0F5FA"/>
          </a:solidFill>
          <a:ln>
            <a:solidFill>
              <a:srgbClr val="E1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73152" cy="1508760"/>
          </a:xfrm>
          <a:prstGeom prst="rect">
            <a:avLst/>
          </a:prstGeom>
          <a:solidFill>
            <a:srgbClr val="27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837944"/>
            <a:ext cx="3108960" cy="32918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3233E"/>
                </a:solidFill>
                <a:latin typeface="Aptos"/>
              </a:defRPr>
            </a:pPr>
            <a:r>
              <a:t>Project aim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258568"/>
            <a:ext cx="3108960" cy="82295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Understand flight arrival/departure delays and compare performance across airlines.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91640"/>
            <a:ext cx="3474720" cy="1508760"/>
          </a:xfrm>
          <a:prstGeom prst="roundRect">
            <a:avLst/>
          </a:prstGeom>
          <a:solidFill>
            <a:srgbClr val="F0F5FA"/>
          </a:solidFill>
          <a:ln>
            <a:solidFill>
              <a:srgbClr val="E1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691640"/>
            <a:ext cx="73152" cy="1508760"/>
          </a:xfrm>
          <a:prstGeom prst="rect">
            <a:avLst/>
          </a:prstGeom>
          <a:solidFill>
            <a:srgbClr val="2B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44568" y="1837944"/>
            <a:ext cx="3108960" cy="32918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3233E"/>
                </a:solidFill>
                <a:latin typeface="Aptos"/>
              </a:defRPr>
            </a:pPr>
            <a:r>
              <a:t>Key questions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258568"/>
            <a:ext cx="3108960" cy="82295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• How are delays distributed?</a:t>
            </a:r>
          </a:p>
          <a:p>
            <a:pPr>
              <a:spcAft>
                <a:spcPts val="7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• How many flights are cancelled?</a:t>
            </a:r>
          </a:p>
          <a:p>
            <a:pPr>
              <a:spcAft>
                <a:spcPts val="7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• Do average delays differ by airline?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91640"/>
            <a:ext cx="3474720" cy="1508760"/>
          </a:xfrm>
          <a:prstGeom prst="roundRect">
            <a:avLst/>
          </a:prstGeom>
          <a:solidFill>
            <a:srgbClr val="F0F5FA"/>
          </a:solidFill>
          <a:ln>
            <a:solidFill>
              <a:srgbClr val="E1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691640"/>
            <a:ext cx="73152" cy="1508760"/>
          </a:xfrm>
          <a:prstGeom prst="rect">
            <a:avLst/>
          </a:prstGeom>
          <a:solidFill>
            <a:srgbClr val="EB9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47888" y="1837944"/>
            <a:ext cx="3108960" cy="32918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3233E"/>
                </a:solidFill>
                <a:latin typeface="Aptos"/>
              </a:defRPr>
            </a:pPr>
            <a:r>
              <a:t>Tools used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258568"/>
            <a:ext cx="3108960" cy="82295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Python in Google Colab, Pandas for data handling, and Matplotlib/Seaborn for charts.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794760"/>
            <a:ext cx="1051560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3233E"/>
                </a:solidFill>
                <a:latin typeface="Aptos"/>
              </a:defRPr>
            </a:pPr>
            <a:r>
              <a:t>Project workflow</a:t>
            </a:r>
          </a:p>
        </p:txBody>
      </p:sp>
      <p:sp>
        <p:nvSpPr>
          <p:cNvPr id="19" name="Oval 18"/>
          <p:cNvSpPr/>
          <p:nvPr/>
        </p:nvSpPr>
        <p:spPr>
          <a:xfrm>
            <a:off x="777240" y="4480560"/>
            <a:ext cx="502920" cy="502920"/>
          </a:xfrm>
          <a:prstGeom prst="ellipse">
            <a:avLst/>
          </a:prstGeom>
          <a:solidFill>
            <a:srgbClr val="27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9032" y="4544568"/>
            <a:ext cx="150876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2A3441"/>
                </a:solidFill>
                <a:latin typeface="Aptos"/>
              </a:defRPr>
            </a:pPr>
            <a:r>
              <a:t>Load data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0" y="4700016"/>
            <a:ext cx="914400" cy="32004"/>
          </a:xfrm>
          <a:prstGeom prst="rect">
            <a:avLst/>
          </a:prstGeom>
          <a:solidFill>
            <a:srgbClr val="DB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3017520" y="4480560"/>
            <a:ext cx="502920" cy="502920"/>
          </a:xfrm>
          <a:prstGeom prst="ellipse">
            <a:avLst/>
          </a:prstGeom>
          <a:solidFill>
            <a:srgbClr val="27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39312" y="4544568"/>
            <a:ext cx="150876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2A3441"/>
                </a:solidFill>
                <a:latin typeface="Aptos"/>
              </a:defRPr>
            </a:pPr>
            <a:r>
              <a:t>Inspect &amp; clean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51960" y="4700016"/>
            <a:ext cx="914400" cy="32004"/>
          </a:xfrm>
          <a:prstGeom prst="rect">
            <a:avLst/>
          </a:prstGeom>
          <a:solidFill>
            <a:srgbClr val="DB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5257800" y="4480560"/>
            <a:ext cx="502920" cy="502920"/>
          </a:xfrm>
          <a:prstGeom prst="ellipse">
            <a:avLst/>
          </a:prstGeom>
          <a:solidFill>
            <a:srgbClr val="27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79592" y="4544568"/>
            <a:ext cx="150876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2A3441"/>
                </a:solidFill>
                <a:latin typeface="Aptos"/>
              </a:defRPr>
            </a:pPr>
            <a:r>
              <a:t>Explore patterns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92240" y="4700016"/>
            <a:ext cx="914400" cy="32004"/>
          </a:xfrm>
          <a:prstGeom prst="rect">
            <a:avLst/>
          </a:prstGeom>
          <a:solidFill>
            <a:srgbClr val="DB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7498080" y="4480560"/>
            <a:ext cx="502920" cy="502920"/>
          </a:xfrm>
          <a:prstGeom prst="ellipse">
            <a:avLst/>
          </a:prstGeom>
          <a:solidFill>
            <a:srgbClr val="2B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19872" y="4544568"/>
            <a:ext cx="150876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2A3441"/>
                </a:solidFill>
                <a:latin typeface="Aptos"/>
              </a:defRPr>
            </a:pPr>
            <a:r>
              <a:t>Visualize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732520" y="4700016"/>
            <a:ext cx="914400" cy="32004"/>
          </a:xfrm>
          <a:prstGeom prst="rect">
            <a:avLst/>
          </a:prstGeom>
          <a:solidFill>
            <a:srgbClr val="DB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9738360" y="4480560"/>
            <a:ext cx="502920" cy="502920"/>
          </a:xfrm>
          <a:prstGeom prst="ellipse">
            <a:avLst/>
          </a:prstGeom>
          <a:solidFill>
            <a:srgbClr val="2B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60152" y="4544568"/>
            <a:ext cx="150876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2A3441"/>
                </a:solidFill>
                <a:latin typeface="Aptos"/>
              </a:defRPr>
            </a:pPr>
            <a:r>
              <a:t>Recommend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5715000"/>
            <a:ext cx="10698480" cy="4572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67382"/>
                </a:solidFill>
                <a:latin typeface="Aptos"/>
              </a:defRPr>
            </a:pPr>
            <a:r>
              <a:t>Scope note: the initial notebook load uses the first 10,000 rows for practice; conclusions must be based on the analyzed sample.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7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33E"/>
                </a:solidFill>
                <a:latin typeface="Aptos Display"/>
              </a:defRPr>
            </a:pPr>
            <a:r>
              <a:t>02  |  Dataset &amp; Key Fields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7382"/>
                </a:solidFill>
                <a:latin typeface="Aptos"/>
              </a:defRPr>
            </a:pPr>
            <a:r>
              <a:t>The project uses the 2015 Flight Delays and Cancellations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382"/>
                </a:solidFill>
              </a:defRPr>
            </a:pPr>
            <a:r>
              <a:t>03 / 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5212080" cy="1828800"/>
          </a:xfrm>
          <a:prstGeom prst="roundRect">
            <a:avLst/>
          </a:prstGeom>
          <a:solidFill>
            <a:srgbClr val="F0F5FA"/>
          </a:solidFill>
          <a:ln>
            <a:solidFill>
              <a:srgbClr val="E1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691640"/>
            <a:ext cx="73152" cy="1828800"/>
          </a:xfrm>
          <a:prstGeom prst="rect">
            <a:avLst/>
          </a:prstGeom>
          <a:solidFill>
            <a:srgbClr val="27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837944"/>
            <a:ext cx="4846320" cy="32918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3233E"/>
                </a:solidFill>
                <a:latin typeface="Aptos"/>
              </a:defRPr>
            </a:pPr>
            <a:r>
              <a:t>Files available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258568"/>
            <a:ext cx="4846320" cy="11430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• flights.csv.zip — main flight records</a:t>
            </a:r>
          </a:p>
          <a:p>
            <a:pPr>
              <a:spcAft>
                <a:spcPts val="7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• airlines.csv — airline codes and names</a:t>
            </a:r>
          </a:p>
          <a:p>
            <a:pPr>
              <a:spcAft>
                <a:spcPts val="7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• airports.csv — airport codes and locations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691640"/>
            <a:ext cx="5257800" cy="1828800"/>
          </a:xfrm>
          <a:prstGeom prst="roundRect">
            <a:avLst/>
          </a:prstGeom>
          <a:solidFill>
            <a:srgbClr val="F0F5FA"/>
          </a:solidFill>
          <a:ln>
            <a:solidFill>
              <a:srgbClr val="E1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72200" y="1691640"/>
            <a:ext cx="73152" cy="1828800"/>
          </a:xfrm>
          <a:prstGeom prst="rect">
            <a:avLst/>
          </a:prstGeom>
          <a:solidFill>
            <a:srgbClr val="2B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73368" y="1837944"/>
            <a:ext cx="4892040" cy="32918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3233E"/>
                </a:solidFill>
                <a:latin typeface="Aptos"/>
              </a:defRPr>
            </a:pPr>
            <a:r>
              <a:t>Important columns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2258568"/>
            <a:ext cx="4892040" cy="11430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• AIRLINE — airline code</a:t>
            </a:r>
          </a:p>
          <a:p>
            <a:pPr>
              <a:spcAft>
                <a:spcPts val="7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• DEPARTURE_DELAY — departure delay in minutes</a:t>
            </a:r>
          </a:p>
          <a:p>
            <a:pPr>
              <a:spcAft>
                <a:spcPts val="7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• ARRIVAL_DELAY — arrival delay in minutes</a:t>
            </a:r>
          </a:p>
          <a:p>
            <a:pPr>
              <a:spcAft>
                <a:spcPts val="7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• CANCELLED — 1 = cancelled, 0 = not cancelled</a:t>
            </a:r>
          </a:p>
          <a:p>
            <a:pPr>
              <a:spcAft>
                <a:spcPts val="7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• DIVERTED — 1 = diverted, 0 = not diverted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069080"/>
            <a:ext cx="1069848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3233E"/>
                </a:solidFill>
                <a:latin typeface="Aptos"/>
              </a:defRPr>
            </a:pPr>
            <a:r>
              <a:t>Questions to answer during exploration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617720"/>
            <a:ext cx="10332720" cy="10058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A3441"/>
                </a:solidFill>
                <a:latin typeface="Aptos"/>
              </a:defRPr>
            </a:pPr>
            <a:r>
              <a:t>1. Which columns contain missing values?</a:t>
            </a:r>
          </a:p>
          <a:p>
            <a:pPr>
              <a:spcAft>
                <a:spcPts val="700"/>
              </a:spcAft>
              <a:defRPr sz="1500" b="0">
                <a:solidFill>
                  <a:srgbClr val="2A3441"/>
                </a:solidFill>
                <a:latin typeface="Aptos"/>
              </a:defRPr>
            </a:pPr>
            <a:r>
              <a:t>2. Are there duplicate records or unexpected data types?</a:t>
            </a:r>
          </a:p>
          <a:p>
            <a:pPr>
              <a:spcAft>
                <a:spcPts val="700"/>
              </a:spcAft>
              <a:defRPr sz="1500" b="0">
                <a:solidFill>
                  <a:srgbClr val="2A3441"/>
                </a:solidFill>
                <a:latin typeface="Aptos"/>
              </a:defRPr>
            </a:pPr>
            <a:r>
              <a:t>3. How do delay values vary across flights and airlines?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897880"/>
            <a:ext cx="1051560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67382"/>
                </a:solidFill>
                <a:latin typeface="Aptos"/>
              </a:defRPr>
            </a:pPr>
            <a:r>
              <a:t>Dataset source: Kaggle — U.S. DOT 2015 Flight Delays and Cancellations.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7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33E"/>
                </a:solidFill>
                <a:latin typeface="Aptos Display"/>
              </a:defRPr>
            </a:pPr>
            <a:r>
              <a:t>03  |  Data 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7382"/>
                </a:solidFill>
                <a:latin typeface="Aptos"/>
              </a:defRPr>
            </a:pPr>
            <a:r>
              <a:t>Prepare the dataset before drawing conclusions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382"/>
                </a:solidFill>
              </a:defRPr>
            </a:pPr>
            <a:r>
              <a:t>04 / 06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1636776"/>
            <a:ext cx="438912" cy="438912"/>
          </a:xfrm>
          <a:prstGeom prst="ellipse">
            <a:avLst/>
          </a:prstGeom>
          <a:solidFill>
            <a:srgbClr val="27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600200"/>
            <a:ext cx="192024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3233E"/>
                </a:solidFill>
                <a:latin typeface="Aptos"/>
              </a:defRPr>
            </a:pPr>
            <a:r>
              <a:t>Inspect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600200"/>
            <a:ext cx="7863840" cy="56692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A3441"/>
                </a:solidFill>
                <a:latin typeface="Aptos"/>
              </a:defRPr>
            </a:pPr>
            <a:r>
              <a:t>Check row/column count, column names, data types, and missing values.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468880"/>
            <a:ext cx="438912" cy="438912"/>
          </a:xfrm>
          <a:prstGeom prst="ellipse">
            <a:avLst/>
          </a:prstGeom>
          <a:solidFill>
            <a:srgbClr val="2B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432304"/>
            <a:ext cx="192024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3233E"/>
                </a:solidFill>
                <a:latin typeface="Aptos"/>
              </a:defRPr>
            </a:pPr>
            <a:r>
              <a:t>Duplicates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432304"/>
            <a:ext cx="7863840" cy="56692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A3441"/>
                </a:solidFill>
                <a:latin typeface="Aptos"/>
              </a:defRPr>
            </a:pPr>
            <a:r>
              <a:t>Count duplicate rows and remove only genuine duplicate records.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3300984"/>
            <a:ext cx="438912" cy="438912"/>
          </a:xfrm>
          <a:prstGeom prst="ellipse">
            <a:avLst/>
          </a:prstGeom>
          <a:solidFill>
            <a:srgbClr val="27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264408"/>
            <a:ext cx="192024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3233E"/>
                </a:solidFill>
                <a:latin typeface="Aptos"/>
              </a:defRPr>
            </a:pPr>
            <a:r>
              <a:t>Missing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3264408"/>
            <a:ext cx="7863840" cy="56692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A3441"/>
                </a:solidFill>
                <a:latin typeface="Aptos"/>
              </a:defRPr>
            </a:pPr>
            <a:r>
              <a:t>Investigate why values are missing before deciding how to handle them.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133088"/>
            <a:ext cx="438912" cy="438912"/>
          </a:xfrm>
          <a:prstGeom prst="ellipse">
            <a:avLst/>
          </a:prstGeom>
          <a:solidFill>
            <a:srgbClr val="2B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096512"/>
            <a:ext cx="192024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3233E"/>
                </a:solidFill>
                <a:latin typeface="Aptos"/>
              </a:defRPr>
            </a:pPr>
            <a:r>
              <a:t>Data types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4096512"/>
            <a:ext cx="7863840" cy="56692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A3441"/>
                </a:solidFill>
                <a:latin typeface="Aptos"/>
              </a:defRPr>
            </a:pPr>
            <a:r>
              <a:t>Ensure numeric fields are numeric and categorical fields are treated appropriately.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4965192"/>
            <a:ext cx="438912" cy="438912"/>
          </a:xfrm>
          <a:prstGeom prst="ellipse">
            <a:avLst/>
          </a:prstGeom>
          <a:solidFill>
            <a:srgbClr val="27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928616"/>
            <a:ext cx="192024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3233E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4928616"/>
            <a:ext cx="7863840" cy="56692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A3441"/>
                </a:solidFill>
                <a:latin typeface="Aptos"/>
              </a:defRPr>
            </a:pPr>
            <a:r>
              <a:t>Recheck missing values, duplicates, and key columns after cleaning.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5806440"/>
            <a:ext cx="10515600" cy="502920"/>
          </a:xfrm>
          <a:prstGeom prst="roundRect">
            <a:avLst/>
          </a:prstGeom>
          <a:solidFill>
            <a:srgbClr val="F0F5FA"/>
          </a:solidFill>
          <a:ln>
            <a:solidFill>
              <a:srgbClr val="E1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22960" y="5806440"/>
            <a:ext cx="73152" cy="502920"/>
          </a:xfrm>
          <a:prstGeom prst="rect">
            <a:avLst/>
          </a:prstGeom>
          <a:solidFill>
            <a:srgbClr val="EB9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24128" y="5952744"/>
            <a:ext cx="10149840" cy="32918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3233E"/>
                </a:solidFill>
                <a:latin typeface="Aptos"/>
              </a:defRPr>
            </a:pPr>
            <a:r>
              <a:t>Important caution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" y="6373368"/>
            <a:ext cx="10149840" cy="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Do not blindly fill missing delay values with a median: missingness may have a real meaning.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7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33E"/>
                </a:solidFill>
                <a:latin typeface="Aptos Display"/>
              </a:defRPr>
            </a:pPr>
            <a:r>
              <a:t>04  |  Visualizations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7382"/>
                </a:solidFill>
                <a:latin typeface="Aptos"/>
              </a:defRPr>
            </a:pPr>
            <a:r>
              <a:t>Three useful charts for the EDA 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382"/>
                </a:solidFill>
              </a:defRPr>
            </a:pPr>
            <a:r>
              <a:t>05 / 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00200"/>
            <a:ext cx="3337560" cy="4160520"/>
          </a:xfrm>
          <a:prstGeom prst="roundRect">
            <a:avLst/>
          </a:prstGeom>
          <a:solidFill>
            <a:srgbClr val="F0F5FA"/>
          </a:solidFill>
          <a:ln>
            <a:solidFill>
              <a:srgbClr val="E1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297180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3233E"/>
                </a:solidFill>
                <a:latin typeface="Aptos"/>
              </a:defRPr>
            </a:pPr>
            <a:r>
              <a:t>1. Arrival delay distribution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33271" y="4114800"/>
            <a:ext cx="2468880" cy="22860"/>
          </a:xfrm>
          <a:prstGeom prst="rect">
            <a:avLst/>
          </a:prstGeom>
          <a:solidFill>
            <a:srgbClr val="667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33271" y="2606040"/>
            <a:ext cx="22860" cy="1508760"/>
          </a:xfrm>
          <a:prstGeom prst="rect">
            <a:avLst/>
          </a:prstGeom>
          <a:solidFill>
            <a:srgbClr val="667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143000" y="3794760"/>
            <a:ext cx="228600" cy="320040"/>
          </a:xfrm>
          <a:prstGeom prst="rect">
            <a:avLst/>
          </a:prstGeom>
          <a:solidFill>
            <a:srgbClr val="27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435608" y="3520440"/>
            <a:ext cx="228600" cy="594360"/>
          </a:xfrm>
          <a:prstGeom prst="rect">
            <a:avLst/>
          </a:prstGeom>
          <a:solidFill>
            <a:srgbClr val="27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728216" y="3154680"/>
            <a:ext cx="228600" cy="960120"/>
          </a:xfrm>
          <a:prstGeom prst="rect">
            <a:avLst/>
          </a:prstGeom>
          <a:solidFill>
            <a:srgbClr val="27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020824" y="2880360"/>
            <a:ext cx="228600" cy="1234440"/>
          </a:xfrm>
          <a:prstGeom prst="rect">
            <a:avLst/>
          </a:prstGeom>
          <a:solidFill>
            <a:srgbClr val="27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313432" y="3063240"/>
            <a:ext cx="228600" cy="1051560"/>
          </a:xfrm>
          <a:prstGeom prst="rect">
            <a:avLst/>
          </a:prstGeom>
          <a:solidFill>
            <a:srgbClr val="27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606040" y="3383280"/>
            <a:ext cx="228600" cy="731520"/>
          </a:xfrm>
          <a:prstGeom prst="rect">
            <a:avLst/>
          </a:prstGeom>
          <a:solidFill>
            <a:srgbClr val="27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898648" y="3675887"/>
            <a:ext cx="228600" cy="438912"/>
          </a:xfrm>
          <a:prstGeom prst="rect">
            <a:avLst/>
          </a:prstGeom>
          <a:solidFill>
            <a:srgbClr val="27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191256" y="3886200"/>
            <a:ext cx="228600" cy="228600"/>
          </a:xfrm>
          <a:prstGeom prst="rect">
            <a:avLst/>
          </a:prstGeom>
          <a:solidFill>
            <a:srgbClr val="27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4434840"/>
            <a:ext cx="297180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27A6A0"/>
                </a:solidFill>
                <a:latin typeface="Aptos"/>
              </a:defRPr>
            </a:pPr>
            <a:r>
              <a:t>Histogram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800600"/>
            <a:ext cx="2971800" cy="7132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2A3441"/>
                </a:solidFill>
                <a:latin typeface="Aptos"/>
              </a:defRPr>
            </a:pPr>
            <a:r>
              <a:t>Shows how often flights arrive early, on time, or late.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34840" y="1600200"/>
            <a:ext cx="3337560" cy="4160520"/>
          </a:xfrm>
          <a:prstGeom prst="roundRect">
            <a:avLst/>
          </a:prstGeom>
          <a:solidFill>
            <a:srgbClr val="F0F5FA"/>
          </a:solidFill>
          <a:ln>
            <a:solidFill>
              <a:srgbClr val="E1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617720" y="1783080"/>
            <a:ext cx="297180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3233E"/>
                </a:solidFill>
                <a:latin typeface="Aptos"/>
              </a:defRPr>
            </a:pPr>
            <a:r>
              <a:t>2. Flight cancellations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73752" y="4114800"/>
            <a:ext cx="2468880" cy="22860"/>
          </a:xfrm>
          <a:prstGeom prst="rect">
            <a:avLst/>
          </a:prstGeom>
          <a:solidFill>
            <a:srgbClr val="667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873752" y="2606040"/>
            <a:ext cx="22860" cy="1508760"/>
          </a:xfrm>
          <a:prstGeom prst="rect">
            <a:avLst/>
          </a:prstGeom>
          <a:solidFill>
            <a:srgbClr val="667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376672" y="2926080"/>
            <a:ext cx="502920" cy="1188720"/>
          </a:xfrm>
          <a:prstGeom prst="rect">
            <a:avLst/>
          </a:prstGeom>
          <a:solidFill>
            <a:srgbClr val="2B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291072" y="3611880"/>
            <a:ext cx="502920" cy="502920"/>
          </a:xfrm>
          <a:prstGeom prst="rect">
            <a:avLst/>
          </a:prstGeom>
          <a:solidFill>
            <a:srgbClr val="DB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193792" y="4187952"/>
            <a:ext cx="91440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spcAft>
                <a:spcPts val="700"/>
              </a:spcAft>
              <a:defRPr sz="900" b="0">
                <a:solidFill>
                  <a:srgbClr val="667382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08192" y="4187952"/>
            <a:ext cx="91440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spcAft>
                <a:spcPts val="700"/>
              </a:spcAft>
              <a:defRPr sz="900" b="0">
                <a:solidFill>
                  <a:srgbClr val="667382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4434840"/>
            <a:ext cx="297180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2B69B0"/>
                </a:solidFill>
                <a:latin typeface="Aptos"/>
              </a:defRPr>
            </a:pPr>
            <a:r>
              <a:t>Count chart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20" y="4800600"/>
            <a:ext cx="2971800" cy="7132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2A3441"/>
                </a:solidFill>
                <a:latin typeface="Aptos"/>
              </a:defRPr>
            </a:pPr>
            <a:r>
              <a:t>Compares cancelled flights (1) with non-cancelled flights (0).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75320" y="1600200"/>
            <a:ext cx="3337560" cy="4160520"/>
          </a:xfrm>
          <a:prstGeom prst="roundRect">
            <a:avLst/>
          </a:prstGeom>
          <a:solidFill>
            <a:srgbClr val="F0F5FA"/>
          </a:solidFill>
          <a:ln>
            <a:solidFill>
              <a:srgbClr val="E1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58200" y="1783080"/>
            <a:ext cx="297180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3233E"/>
                </a:solidFill>
                <a:latin typeface="Aptos"/>
              </a:defRPr>
            </a:pPr>
            <a:r>
              <a:t>3. Delay by airline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14232" y="4114800"/>
            <a:ext cx="2468880" cy="22860"/>
          </a:xfrm>
          <a:prstGeom prst="rect">
            <a:avLst/>
          </a:prstGeom>
          <a:solidFill>
            <a:srgbClr val="667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714232" y="2606040"/>
            <a:ext cx="22860" cy="1508760"/>
          </a:xfrm>
          <a:prstGeom prst="rect">
            <a:avLst/>
          </a:prstGeom>
          <a:solidFill>
            <a:srgbClr val="667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942832" y="3611880"/>
            <a:ext cx="292608" cy="502920"/>
          </a:xfrm>
          <a:prstGeom prst="rect">
            <a:avLst/>
          </a:prstGeom>
          <a:solidFill>
            <a:srgbClr val="EB9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381744" y="3108960"/>
            <a:ext cx="292608" cy="1005840"/>
          </a:xfrm>
          <a:prstGeom prst="rect">
            <a:avLst/>
          </a:prstGeom>
          <a:solidFill>
            <a:srgbClr val="EB9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9820656" y="3337560"/>
            <a:ext cx="292608" cy="777240"/>
          </a:xfrm>
          <a:prstGeom prst="rect">
            <a:avLst/>
          </a:prstGeom>
          <a:solidFill>
            <a:srgbClr val="EB9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0259568" y="2834640"/>
            <a:ext cx="292608" cy="1280160"/>
          </a:xfrm>
          <a:prstGeom prst="rect">
            <a:avLst/>
          </a:prstGeom>
          <a:solidFill>
            <a:srgbClr val="EB9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10698480" y="3474720"/>
            <a:ext cx="292608" cy="640080"/>
          </a:xfrm>
          <a:prstGeom prst="rect">
            <a:avLst/>
          </a:prstGeom>
          <a:solidFill>
            <a:srgbClr val="EB9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58200" y="4434840"/>
            <a:ext cx="297180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EB9746"/>
                </a:solidFill>
                <a:latin typeface="Aptos"/>
              </a:defRPr>
            </a:pPr>
            <a:r>
              <a:t>Bar chart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58200" y="4800600"/>
            <a:ext cx="2971800" cy="7132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2A3441"/>
                </a:solidFill>
                <a:latin typeface="Aptos"/>
              </a:defRPr>
            </a:pPr>
            <a:r>
              <a:t>Compares average arrival delay across airline codes.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5989320"/>
            <a:ext cx="1051560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67382"/>
                </a:solidFill>
                <a:latin typeface="Aptos"/>
              </a:defRPr>
            </a:pPr>
            <a:r>
              <a:t>Note: chart drawings are schematic examples; replace them with actual plots generated from the cleaned dataset.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7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33E"/>
                </a:solidFill>
                <a:latin typeface="Aptos Display"/>
              </a:defRPr>
            </a:pPr>
            <a:r>
              <a:t>05  |  Insights &amp;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7382"/>
                </a:solidFill>
                <a:latin typeface="Aptos"/>
              </a:defRPr>
            </a:pPr>
            <a:r>
              <a:t>Use the charts to turn data into practical 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382"/>
                </a:solidFill>
              </a:defRPr>
            </a:pPr>
            <a:r>
              <a:t>06 / 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5257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E1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645920"/>
            <a:ext cx="73152" cy="1417320"/>
          </a:xfrm>
          <a:prstGeom prst="rect">
            <a:avLst/>
          </a:prstGeom>
          <a:solidFill>
            <a:srgbClr val="27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792224"/>
            <a:ext cx="4892040" cy="32918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3233E"/>
                </a:solidFill>
                <a:latin typeface="Aptos"/>
              </a:defRPr>
            </a:pPr>
            <a:r>
              <a:t>Potential insights to 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212848"/>
            <a:ext cx="4892040" cy="7315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• Which airlines have higher average delays?</a:t>
            </a:r>
          </a:p>
          <a:p>
            <a:pPr>
              <a:spcAft>
                <a:spcPts val="7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• What share of sampled flights are cancelled?</a:t>
            </a:r>
          </a:p>
          <a:p>
            <a:pPr>
              <a:spcAft>
                <a:spcPts val="7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• Are departure delays associated with arrival delays?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257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E1E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645920"/>
            <a:ext cx="73152" cy="1417320"/>
          </a:xfrm>
          <a:prstGeom prst="rect">
            <a:avLst/>
          </a:prstGeom>
          <a:solidFill>
            <a:srgbClr val="2B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19088" y="1792224"/>
            <a:ext cx="4892040" cy="32918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3233E"/>
                </a:solidFill>
                <a:latin typeface="Aptos"/>
              </a:defRPr>
            </a:pPr>
            <a:r>
              <a:t>Possible recommendations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212848"/>
            <a:ext cx="4892040" cy="7315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• Monitor routes and time periods with frequent delays.</a:t>
            </a:r>
          </a:p>
          <a:p>
            <a:pPr>
              <a:spcAft>
                <a:spcPts val="7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• Improve schedule buffers where delays repeatedly occur.</a:t>
            </a:r>
          </a:p>
          <a:p>
            <a:pPr>
              <a:spcAft>
                <a:spcPts val="7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• Communicate cancellation and delay updates promptly.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657600"/>
            <a:ext cx="1051560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3233E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206240"/>
            <a:ext cx="10332720" cy="9144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A3441"/>
                </a:solidFill>
                <a:latin typeface="Aptos"/>
              </a:defRPr>
            </a:pPr>
            <a:r>
              <a:t>Python EDA helps summarize flight operations, compare airline-level patterns, and identify areas that deserve further investigation. Final findings should be written only after reviewing the actual chart results.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5532120"/>
            <a:ext cx="10561320" cy="594360"/>
          </a:xfrm>
          <a:prstGeom prst="roundRect">
            <a:avLst/>
          </a:prstGeom>
          <a:solidFill>
            <a:srgbClr val="13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51560" y="5669280"/>
            <a:ext cx="1005840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Next step: generate the 3 charts in Google Colab and record the real observations.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611</Words>
  <Application>Microsoft Office PowerPoint</Application>
  <PresentationFormat>Widescreen</PresentationFormat>
  <Paragraphs>96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Mohana Priya</cp:lastModifiedBy>
  <cp:revision>2</cp:revision>
  <dcterms:created xsi:type="dcterms:W3CDTF">2013-01-27T09:14:16Z</dcterms:created>
  <dcterms:modified xsi:type="dcterms:W3CDTF">2026-10-28T13:36:02Z</dcterms:modified>
  <cp:category/>
</cp:coreProperties>
</file>